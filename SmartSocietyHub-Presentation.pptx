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I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3154680"/>
            <a:ext cx="6400800" cy="6400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37160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SmartSocietyHub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02920" y="2468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Smart Way to Manage Your Society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02920" y="32461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Digital Solution for Residential Societies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5806440"/>
            <a:ext cx="2377440" cy="411480"/>
          </a:xfrm>
          <a:prstGeom prst="rect">
            <a:avLst/>
          </a:prstGeom>
          <a:solidFill>
            <a:srgbClr val="1C3F6E"/>
          </a:solidFill>
          <a:ln w="19050">
            <a:solidFill>
              <a:srgbClr val="00AC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58064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18+ Modules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063240" y="5806440"/>
            <a:ext cx="2377440" cy="411480"/>
          </a:xfrm>
          <a:prstGeom prst="rect">
            <a:avLst/>
          </a:prstGeom>
          <a:solidFill>
            <a:srgbClr val="1C3F6E"/>
          </a:solidFill>
          <a:ln w="19050">
            <a:solidFill>
              <a:srgbClr val="00AC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63240" y="58064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+ Mobile App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989320" y="5806440"/>
            <a:ext cx="2377440" cy="411480"/>
          </a:xfrm>
          <a:prstGeom prst="rect">
            <a:avLst/>
          </a:prstGeom>
          <a:solidFill>
            <a:srgbClr val="1C3F6E"/>
          </a:solidFill>
          <a:ln w="19050">
            <a:solidFill>
              <a:srgbClr val="00ACC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89320" y="58064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 Payments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595360" y="5806440"/>
            <a:ext cx="2377440" cy="411480"/>
          </a:xfrm>
          <a:prstGeom prst="rect">
            <a:avLst/>
          </a:prstGeom>
          <a:solidFill>
            <a:srgbClr val="1C3F6E"/>
          </a:solidFill>
          <a:ln w="19050">
            <a:solidFill>
              <a:srgbClr val="00ACC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95360" y="58064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Multi-Society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0" y="6492240"/>
            <a:ext cx="1219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SmartSocietyHub Team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2011680" cy="27432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 Familiar, Chairman?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11274552" cy="0"/>
          </a:xfrm>
          <a:prstGeom prst="line">
            <a:avLst/>
          </a:prstGeom>
          <a:noFill/>
          <a:ln w="19050">
            <a:solidFill>
              <a:srgbClr val="ECEF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98448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the daily struggles every society chairman faces today.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691640"/>
            <a:ext cx="3474720" cy="777240"/>
          </a:xfrm>
          <a:prstGeom prst="rect">
            <a:avLst/>
          </a:prstGeom>
          <a:solidFill>
            <a:srgbClr val="FFEBEE"/>
          </a:solidFill>
          <a:ln w="12700">
            <a:solidFill>
              <a:srgbClr val="F4C2C2"/>
            </a:solidFill>
            <a:prstDash val="solid"/>
          </a:ln>
          <a:effectLst>
            <a:outerShdw sx="100000" sy="100000" kx="0" ky="0" algn="bl" rotWithShape="0" blurRad="76200" dist="25400" dir="2700000">
              <a:srgbClr val="CCCCCC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78308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😤  Residents call you at 10 PM asking about their bill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560320"/>
            <a:ext cx="3474720" cy="777240"/>
          </a:xfrm>
          <a:prstGeom prst="rect">
            <a:avLst/>
          </a:prstGeom>
          <a:solidFill>
            <a:srgbClr val="FFEBEE"/>
          </a:solidFill>
          <a:ln w="12700">
            <a:solidFill>
              <a:srgbClr val="F4C2C2"/>
            </a:solidFill>
            <a:prstDash val="solid"/>
          </a:ln>
          <a:effectLst>
            <a:outerShdw sx="100000" sy="100000" kx="0" ky="0" algn="bl" rotWithShape="0" blurRad="76200" dist="25400" dir="2700000">
              <a:srgbClr val="CCCCCC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265176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Maintenance receipts are stored in a paper register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3429000"/>
            <a:ext cx="3474720" cy="777240"/>
          </a:xfrm>
          <a:prstGeom prst="rect">
            <a:avLst/>
          </a:prstGeom>
          <a:solidFill>
            <a:srgbClr val="FFEBEE"/>
          </a:solidFill>
          <a:ln w="12700">
            <a:solidFill>
              <a:srgbClr val="F4C2C2"/>
            </a:solidFill>
            <a:prstDash val="solid"/>
          </a:ln>
          <a:effectLst>
            <a:outerShdw sx="100000" sy="100000" kx="0" ky="0" algn="bl" rotWithShape="0" blurRad="76200" dist="25400" dir="2700000">
              <a:srgbClr val="CCCCCC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2920" y="352044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No idea which flat has paid and which hasn't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4297680"/>
            <a:ext cx="3474720" cy="777240"/>
          </a:xfrm>
          <a:prstGeom prst="rect">
            <a:avLst/>
          </a:prstGeom>
          <a:solidFill>
            <a:srgbClr val="FFEBEE"/>
          </a:solidFill>
          <a:ln w="12700">
            <a:solidFill>
              <a:srgbClr val="F4C2C2"/>
            </a:solidFill>
            <a:prstDash val="solid"/>
          </a:ln>
          <a:effectLst>
            <a:outerShdw sx="100000" sy="100000" kx="0" ky="0" algn="bl" rotWithShape="0" blurRad="76200" dist="25400" dir="2700000">
              <a:srgbClr val="CCCCCC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920" y="438912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Guard registers visitors manually — easy to fake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14800" y="1691640"/>
            <a:ext cx="3474720" cy="777240"/>
          </a:xfrm>
          <a:prstGeom prst="rect">
            <a:avLst/>
          </a:prstGeom>
          <a:solidFill>
            <a:srgbClr val="FFEBEE"/>
          </a:solidFill>
          <a:ln w="12700">
            <a:solidFill>
              <a:srgbClr val="F4C2C2"/>
            </a:solidFill>
            <a:prstDash val="solid"/>
          </a:ln>
          <a:effectLst>
            <a:outerShdw sx="100000" sy="100000" kx="0" ky="0" algn="bl" rotWithShape="0" blurRad="76200" dist="25400" dir="2700000">
              <a:srgbClr val="CCCCCC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251960" y="178308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Sending notices means going door-to-door or WhatsApp groups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114800" y="2560320"/>
            <a:ext cx="3474720" cy="777240"/>
          </a:xfrm>
          <a:prstGeom prst="rect">
            <a:avLst/>
          </a:prstGeom>
          <a:solidFill>
            <a:srgbClr val="FFEBEE"/>
          </a:solidFill>
          <a:ln w="12700">
            <a:solidFill>
              <a:srgbClr val="F4C2C2"/>
            </a:solidFill>
            <a:prstDash val="solid"/>
          </a:ln>
          <a:effectLst>
            <a:outerShdw sx="100000" sy="100000" kx="0" ky="0" algn="bl" rotWithShape="0" blurRad="76200" dist="25400" dir="2700000">
              <a:srgbClr val="CCCCCC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251960" y="265176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🚗  Parking disputes with no evidence or record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114800" y="3429000"/>
            <a:ext cx="3474720" cy="777240"/>
          </a:xfrm>
          <a:prstGeom prst="rect">
            <a:avLst/>
          </a:prstGeom>
          <a:solidFill>
            <a:srgbClr val="FFEBEE"/>
          </a:solidFill>
          <a:ln w="12700">
            <a:solidFill>
              <a:srgbClr val="F4C2C2"/>
            </a:solidFill>
            <a:prstDash val="solid"/>
          </a:ln>
          <a:effectLst>
            <a:outerShdw sx="100000" sy="100000" kx="0" ky="0" algn="bl" rotWithShape="0" blurRad="76200" dist="25400" dir="2700000">
              <a:srgbClr val="CCCCCC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251960" y="352044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Complaints get lost — no follow-up, no accountability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114800" y="4297680"/>
            <a:ext cx="3474720" cy="777240"/>
          </a:xfrm>
          <a:prstGeom prst="rect">
            <a:avLst/>
          </a:prstGeom>
          <a:solidFill>
            <a:srgbClr val="FFEBEE"/>
          </a:solidFill>
          <a:ln w="12700">
            <a:solidFill>
              <a:srgbClr val="F4C2C2"/>
            </a:solidFill>
            <a:prstDash val="solid"/>
          </a:ln>
          <a:effectLst>
            <a:outerShdw sx="100000" sy="100000" kx="0" ky="0" algn="bl" rotWithShape="0" blurRad="76200" dist="25400" dir="2700000">
              <a:srgbClr val="CCCCCC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251960" y="438912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💸  No clear financial report for AGM — just Excel sheets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863840" y="1600200"/>
            <a:ext cx="4114800" cy="4572000"/>
          </a:xfrm>
          <a:prstGeom prst="rect">
            <a:avLst/>
          </a:prstGeom>
          <a:solidFill>
            <a:srgbClr val="FFF3E0"/>
          </a:solidFill>
          <a:ln w="12700">
            <a:solidFill>
              <a:srgbClr val="FFCC80"/>
            </a:solidFill>
            <a:prstDash val="solid"/>
          </a:ln>
          <a:effectLst>
            <a:outerShdw sx="100000" sy="100000" kx="0" ky="0" algn="bl" rotWithShape="0" blurRad="76200" dist="25400" dir="2700000">
              <a:srgbClr val="CCCCCC">
                <a:alpha val="3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863840" y="16916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The Impact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001000" y="2176272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3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Residents lose trust in committee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001000" y="27432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3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Collection takes months, not days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001000" y="331012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3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Security incidents go unreported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001000" y="3877056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3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CAM audits become nightmares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001000" y="4443984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3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Chairman's personal time wasted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001000" y="5010912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3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AGM decisions not documented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0" y="6510528"/>
            <a:ext cx="12192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SmartSocietyHub  |  Making Society Management Simple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914400"/>
            <a:ext cx="1219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Introducing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0" y="1417320"/>
            <a:ext cx="1219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SmartSocietyHub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1371600" y="2514600"/>
            <a:ext cx="94457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 that runs your entire society — billing, security, complaints,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payments, residents, staff, and governance — all in one place.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40080" y="3474720"/>
            <a:ext cx="2651760" cy="2560320"/>
          </a:xfrm>
          <a:prstGeom prst="rect">
            <a:avLst/>
          </a:prstGeom>
          <a:solidFill>
            <a:srgbClr val="0D2F52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5661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💰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40080" y="411480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First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4544568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billing, UPI payments,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receipts &amp; full accounts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463040" y="5989320"/>
            <a:ext cx="1005840" cy="27432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63040" y="59893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Included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566160" y="3474720"/>
            <a:ext cx="2651760" cy="2560320"/>
          </a:xfrm>
          <a:prstGeom prst="rect">
            <a:avLst/>
          </a:prstGeom>
          <a:solidFill>
            <a:srgbClr val="0D2F52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66160" y="35661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🔐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3566160" y="411480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Access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57600" y="4544568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visitor gate, QR codes,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 management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389120" y="5989320"/>
            <a:ext cx="1005840" cy="27432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0" y="59893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Included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492240" y="3474720"/>
            <a:ext cx="2651760" cy="2560320"/>
          </a:xfrm>
          <a:prstGeom prst="rect">
            <a:avLst/>
          </a:prstGeom>
          <a:solidFill>
            <a:srgbClr val="0D2F52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0" y="35661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📱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492240" y="411480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83680" y="4544568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&amp; iOS app,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offline too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315200" y="5989320"/>
            <a:ext cx="1005840" cy="27432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0" y="59893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Included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9418320" y="3474720"/>
            <a:ext cx="2651760" cy="2560320"/>
          </a:xfrm>
          <a:prstGeom prst="rect">
            <a:avLst/>
          </a:prstGeom>
          <a:solidFill>
            <a:srgbClr val="0D2F52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418320" y="35661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🏛️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9418320" y="411480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Governance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509760" y="4544568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Notices, polls, meetings,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complaints &amp; more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10241280" y="5989320"/>
            <a:ext cx="1005840" cy="27432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241280" y="59893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Included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0" y="6537960"/>
            <a:ext cx="1219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SmartSocietyHub  |  One Platform. Every Need.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2011680" cy="27432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FEATURES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Powerful Modules — Zero Extra Software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11274552" cy="0"/>
          </a:xfrm>
          <a:prstGeom prst="line">
            <a:avLst/>
          </a:prstGeom>
          <a:noFill/>
          <a:ln w="19050">
            <a:solidFill>
              <a:srgbClr val="ECEF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984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your society needs, built-in from day one.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01168" y="1627632"/>
            <a:ext cx="1901952" cy="1143000"/>
          </a:xfrm>
          <a:prstGeom prst="rect">
            <a:avLst/>
          </a:prstGeom>
          <a:solidFill>
            <a:srgbClr val="F4F7FA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76200" dist="25400" dir="2700000">
              <a:srgbClr val="CCCCCC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01168" y="1664208"/>
            <a:ext cx="19019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🧾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01168" y="2029968"/>
            <a:ext cx="1901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Billing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01168" y="2295144"/>
            <a:ext cx="1901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bills every month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57984" y="1627632"/>
            <a:ext cx="1901952" cy="1143000"/>
          </a:xfrm>
          <a:prstGeom prst="rect">
            <a:avLst/>
          </a:prstGeom>
          <a:solidFill>
            <a:srgbClr val="F4F7FA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76200" dist="25400" dir="2700000">
              <a:srgbClr val="CCCCCC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157984" y="1664208"/>
            <a:ext cx="19019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📲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157984" y="2029968"/>
            <a:ext cx="1901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 Payments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157984" y="2295144"/>
            <a:ext cx="1901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directly in the app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114800" y="1627632"/>
            <a:ext cx="1901952" cy="1143000"/>
          </a:xfrm>
          <a:prstGeom prst="rect">
            <a:avLst/>
          </a:prstGeom>
          <a:solidFill>
            <a:srgbClr val="F4F7FA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76200" dist="25400" dir="2700000">
              <a:srgbClr val="CCCCCC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114800" y="1664208"/>
            <a:ext cx="19019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🔐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114800" y="2029968"/>
            <a:ext cx="1901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 Gate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114800" y="2295144"/>
            <a:ext cx="1901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QR-based entry &amp; exit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071616" y="1627632"/>
            <a:ext cx="1901952" cy="1143000"/>
          </a:xfrm>
          <a:prstGeom prst="rect">
            <a:avLst/>
          </a:prstGeom>
          <a:solidFill>
            <a:srgbClr val="F4F7FA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76200" dist="25400" dir="2700000">
              <a:srgbClr val="CCCCCC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071616" y="1664208"/>
            <a:ext cx="19019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🚨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071616" y="2029968"/>
            <a:ext cx="1901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Complaints &amp; SLA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071616" y="2295144"/>
            <a:ext cx="1901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till resolved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8028432" y="1627632"/>
            <a:ext cx="1901952" cy="1143000"/>
          </a:xfrm>
          <a:prstGeom prst="rect">
            <a:avLst/>
          </a:prstGeom>
          <a:solidFill>
            <a:srgbClr val="F4F7FA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76200" dist="25400" dir="2700000">
              <a:srgbClr val="CCCCCC">
                <a:alpha val="3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028432" y="1664208"/>
            <a:ext cx="19019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🅿️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8028432" y="2029968"/>
            <a:ext cx="1901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Parking Management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8028432" y="2295144"/>
            <a:ext cx="1901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Zones, slots &amp; sharing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9985248" y="1627632"/>
            <a:ext cx="1901952" cy="1143000"/>
          </a:xfrm>
          <a:prstGeom prst="rect">
            <a:avLst/>
          </a:prstGeom>
          <a:solidFill>
            <a:srgbClr val="F4F7FA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76200" dist="25400" dir="2700000">
              <a:srgbClr val="CCCCCC">
                <a:alpha val="3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9985248" y="1664208"/>
            <a:ext cx="19019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🏊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9985248" y="2029968"/>
            <a:ext cx="1901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Amenity Booking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9985248" y="2295144"/>
            <a:ext cx="1901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Club, gym, hall bookings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01168" y="2862072"/>
            <a:ext cx="1901952" cy="1143000"/>
          </a:xfrm>
          <a:prstGeom prst="rect">
            <a:avLst/>
          </a:prstGeom>
          <a:solidFill>
            <a:srgbClr val="F4F7FA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76200" dist="25400" dir="2700000">
              <a:srgbClr val="CCCCCC">
                <a:alpha val="3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201168" y="2898648"/>
            <a:ext cx="19019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📢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201168" y="3264408"/>
            <a:ext cx="1901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Notices &amp; Forum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201168" y="3529584"/>
            <a:ext cx="1901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every resident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57984" y="2862072"/>
            <a:ext cx="1901952" cy="1143000"/>
          </a:xfrm>
          <a:prstGeom prst="rect">
            <a:avLst/>
          </a:prstGeom>
          <a:solidFill>
            <a:srgbClr val="F4F7FA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76200" dist="25400" dir="2700000">
              <a:srgbClr val="CCCCCC">
                <a:alpha val="3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2157984" y="2898648"/>
            <a:ext cx="19019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2157984" y="3264408"/>
            <a:ext cx="1901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Reports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2157984" y="3529584"/>
            <a:ext cx="1901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sheet &amp; ledger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114800" y="2862072"/>
            <a:ext cx="1901952" cy="1143000"/>
          </a:xfrm>
          <a:prstGeom prst="rect">
            <a:avLst/>
          </a:prstGeom>
          <a:solidFill>
            <a:srgbClr val="F4F7FA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76200" dist="25400" dir="2700000">
              <a:srgbClr val="CCCCCC">
                <a:alpha val="3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4114800" y="2898648"/>
            <a:ext cx="19019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👥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4114800" y="3264408"/>
            <a:ext cx="1901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Directory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114800" y="3529584"/>
            <a:ext cx="1901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Flat-wise contact book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6071616" y="2862072"/>
            <a:ext cx="1901952" cy="1143000"/>
          </a:xfrm>
          <a:prstGeom prst="rect">
            <a:avLst/>
          </a:prstGeom>
          <a:solidFill>
            <a:srgbClr val="F4F7FA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76200" dist="25400" dir="2700000">
              <a:srgbClr val="CCCCCC">
                <a:alpha val="30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6071616" y="2898648"/>
            <a:ext cx="19019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🧹</a:t>
            </a:r>
            <a:endParaRPr lang="en-US" sz="2000" dirty="0"/>
          </a:p>
        </p:txBody>
      </p:sp>
      <p:sp>
        <p:nvSpPr>
          <p:cNvPr id="45" name="Text 43"/>
          <p:cNvSpPr/>
          <p:nvPr/>
        </p:nvSpPr>
        <p:spPr>
          <a:xfrm>
            <a:off x="6071616" y="3264408"/>
            <a:ext cx="1901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Management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071616" y="3529584"/>
            <a:ext cx="1901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&amp; payroll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8028432" y="2862072"/>
            <a:ext cx="1901952" cy="1143000"/>
          </a:xfrm>
          <a:prstGeom prst="rect">
            <a:avLst/>
          </a:prstGeom>
          <a:solidFill>
            <a:srgbClr val="F4F7FA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76200" dist="25400" dir="2700000">
              <a:srgbClr val="CCCCCC">
                <a:alpha val="30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8028432" y="2898648"/>
            <a:ext cx="19019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🛡️</a:t>
            </a:r>
            <a:endParaRPr lang="en-US" sz="2000" dirty="0"/>
          </a:p>
        </p:txBody>
      </p:sp>
      <p:sp>
        <p:nvSpPr>
          <p:cNvPr id="49" name="Text 47"/>
          <p:cNvSpPr/>
          <p:nvPr/>
        </p:nvSpPr>
        <p:spPr>
          <a:xfrm>
            <a:off x="8028432" y="3264408"/>
            <a:ext cx="1901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 Patrol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8028432" y="3529584"/>
            <a:ext cx="1901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 rounds &amp; logs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9985248" y="2862072"/>
            <a:ext cx="1901952" cy="1143000"/>
          </a:xfrm>
          <a:prstGeom prst="rect">
            <a:avLst/>
          </a:prstGeom>
          <a:solidFill>
            <a:srgbClr val="F4F7FA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76200" dist="25400" dir="2700000">
              <a:srgbClr val="CCCCCC">
                <a:alpha val="30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9985248" y="2898648"/>
            <a:ext cx="19019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🗳️</a:t>
            </a:r>
            <a:endParaRPr lang="en-US" sz="2000" dirty="0"/>
          </a:p>
        </p:txBody>
      </p:sp>
      <p:sp>
        <p:nvSpPr>
          <p:cNvPr id="53" name="Text 51"/>
          <p:cNvSpPr/>
          <p:nvPr/>
        </p:nvSpPr>
        <p:spPr>
          <a:xfrm>
            <a:off x="9985248" y="3264408"/>
            <a:ext cx="1901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Polls &amp; Meetings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9985248" y="3529584"/>
            <a:ext cx="1901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AGM support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201168" y="4096512"/>
            <a:ext cx="1901952" cy="1143000"/>
          </a:xfrm>
          <a:prstGeom prst="rect">
            <a:avLst/>
          </a:prstGeom>
          <a:solidFill>
            <a:srgbClr val="F4F7FA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76200" dist="25400" dir="2700000">
              <a:srgbClr val="CCCCCC">
                <a:alpha val="30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201168" y="4133088"/>
            <a:ext cx="19019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🏠</a:t>
            </a:r>
            <a:endParaRPr lang="en-US" sz="2000" dirty="0"/>
          </a:p>
        </p:txBody>
      </p:sp>
      <p:sp>
        <p:nvSpPr>
          <p:cNvPr id="57" name="Text 55"/>
          <p:cNvSpPr/>
          <p:nvPr/>
        </p:nvSpPr>
        <p:spPr>
          <a:xfrm>
            <a:off x="201168" y="4498848"/>
            <a:ext cx="1901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Management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201168" y="4764024"/>
            <a:ext cx="1901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Rental &amp; agreements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2157984" y="4096512"/>
            <a:ext cx="1901952" cy="1143000"/>
          </a:xfrm>
          <a:prstGeom prst="rect">
            <a:avLst/>
          </a:prstGeom>
          <a:solidFill>
            <a:srgbClr val="F4F7FA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76200" dist="25400" dir="2700000">
              <a:srgbClr val="CCCCCC">
                <a:alpha val="30000"/>
              </a:srgbClr>
            </a:outerShdw>
          </a:effectLst>
        </p:spPr>
      </p:sp>
      <p:sp>
        <p:nvSpPr>
          <p:cNvPr id="60" name="Text 58"/>
          <p:cNvSpPr/>
          <p:nvPr/>
        </p:nvSpPr>
        <p:spPr>
          <a:xfrm>
            <a:off x="2157984" y="4133088"/>
            <a:ext cx="19019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📦</a:t>
            </a:r>
            <a:endParaRPr lang="en-US" sz="2000" dirty="0"/>
          </a:p>
        </p:txBody>
      </p:sp>
      <p:sp>
        <p:nvSpPr>
          <p:cNvPr id="61" name="Text 59"/>
          <p:cNvSpPr/>
          <p:nvPr/>
        </p:nvSpPr>
        <p:spPr>
          <a:xfrm>
            <a:off x="2157984" y="4498848"/>
            <a:ext cx="1901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Delivery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2157984" y="4764024"/>
            <a:ext cx="1901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Parcel in/out tracking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4114800" y="4096512"/>
            <a:ext cx="1901952" cy="1143000"/>
          </a:xfrm>
          <a:prstGeom prst="rect">
            <a:avLst/>
          </a:prstGeom>
          <a:solidFill>
            <a:srgbClr val="F4F7FA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76200" dist="25400" dir="2700000">
              <a:srgbClr val="CCCCCC">
                <a:alpha val="30000"/>
              </a:srgbClr>
            </a:outerShdw>
          </a:effectLst>
        </p:spPr>
      </p:sp>
      <p:sp>
        <p:nvSpPr>
          <p:cNvPr id="64" name="Text 62"/>
          <p:cNvSpPr/>
          <p:nvPr/>
        </p:nvSpPr>
        <p:spPr>
          <a:xfrm>
            <a:off x="4114800" y="4133088"/>
            <a:ext cx="19019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🆘</a:t>
            </a:r>
            <a:endParaRPr lang="en-US" sz="2000" dirty="0"/>
          </a:p>
        </p:txBody>
      </p:sp>
      <p:sp>
        <p:nvSpPr>
          <p:cNvPr id="65" name="Text 63"/>
          <p:cNvSpPr/>
          <p:nvPr/>
        </p:nvSpPr>
        <p:spPr>
          <a:xfrm>
            <a:off x="4114800" y="4498848"/>
            <a:ext cx="1901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SOS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4114800" y="4764024"/>
            <a:ext cx="1901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One-tap alert system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6071616" y="4096512"/>
            <a:ext cx="1901952" cy="1143000"/>
          </a:xfrm>
          <a:prstGeom prst="rect">
            <a:avLst/>
          </a:prstGeom>
          <a:solidFill>
            <a:srgbClr val="F4F7FA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76200" dist="25400" dir="2700000">
              <a:srgbClr val="CCCCCC">
                <a:alpha val="30000"/>
              </a:srgbClr>
            </a:outerShdw>
          </a:effectLst>
        </p:spPr>
      </p:sp>
      <p:sp>
        <p:nvSpPr>
          <p:cNvPr id="68" name="Text 66"/>
          <p:cNvSpPr/>
          <p:nvPr/>
        </p:nvSpPr>
        <p:spPr>
          <a:xfrm>
            <a:off x="6071616" y="4133088"/>
            <a:ext cx="19019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📑</a:t>
            </a:r>
            <a:endParaRPr lang="en-US" sz="2000" dirty="0"/>
          </a:p>
        </p:txBody>
      </p:sp>
      <p:sp>
        <p:nvSpPr>
          <p:cNvPr id="69" name="Text 67"/>
          <p:cNvSpPr/>
          <p:nvPr/>
        </p:nvSpPr>
        <p:spPr>
          <a:xfrm>
            <a:off x="6071616" y="4498848"/>
            <a:ext cx="1901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Store</a:t>
            </a:r>
            <a:endParaRPr lang="en-US" sz="950" dirty="0"/>
          </a:p>
        </p:txBody>
      </p:sp>
      <p:sp>
        <p:nvSpPr>
          <p:cNvPr id="70" name="Text 68"/>
          <p:cNvSpPr/>
          <p:nvPr/>
        </p:nvSpPr>
        <p:spPr>
          <a:xfrm>
            <a:off x="6071616" y="4764024"/>
            <a:ext cx="1901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Bylaws, NOCs, minutes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8028432" y="4096512"/>
            <a:ext cx="1901952" cy="1143000"/>
          </a:xfrm>
          <a:prstGeom prst="rect">
            <a:avLst/>
          </a:prstGeom>
          <a:solidFill>
            <a:srgbClr val="F4F7FA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76200" dist="25400" dir="2700000">
              <a:srgbClr val="CCCCCC">
                <a:alpha val="30000"/>
              </a:srgbClr>
            </a:outerShdw>
          </a:effectLst>
        </p:spPr>
      </p:sp>
      <p:sp>
        <p:nvSpPr>
          <p:cNvPr id="72" name="Text 70"/>
          <p:cNvSpPr/>
          <p:nvPr/>
        </p:nvSpPr>
        <p:spPr>
          <a:xfrm>
            <a:off x="8028432" y="4133088"/>
            <a:ext cx="19019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💬</a:t>
            </a:r>
            <a:endParaRPr lang="en-US" sz="2000" dirty="0"/>
          </a:p>
        </p:txBody>
      </p:sp>
      <p:sp>
        <p:nvSpPr>
          <p:cNvPr id="73" name="Text 71"/>
          <p:cNvSpPr/>
          <p:nvPr/>
        </p:nvSpPr>
        <p:spPr>
          <a:xfrm>
            <a:off x="8028432" y="4498848"/>
            <a:ext cx="1901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Alerts</a:t>
            </a:r>
            <a:endParaRPr lang="en-US" sz="950" dirty="0"/>
          </a:p>
        </p:txBody>
      </p:sp>
      <p:sp>
        <p:nvSpPr>
          <p:cNvPr id="74" name="Text 72"/>
          <p:cNvSpPr/>
          <p:nvPr/>
        </p:nvSpPr>
        <p:spPr>
          <a:xfrm>
            <a:off x="8028432" y="4764024"/>
            <a:ext cx="1901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payment reminders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9985248" y="4096512"/>
            <a:ext cx="1901952" cy="1143000"/>
          </a:xfrm>
          <a:prstGeom prst="rect">
            <a:avLst/>
          </a:prstGeom>
          <a:solidFill>
            <a:srgbClr val="F4F7FA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76200" dist="25400" dir="2700000">
              <a:srgbClr val="CCCCCC">
                <a:alpha val="30000"/>
              </a:srgbClr>
            </a:outerShdw>
          </a:effectLst>
        </p:spPr>
      </p:sp>
      <p:sp>
        <p:nvSpPr>
          <p:cNvPr id="76" name="Text 74"/>
          <p:cNvSpPr/>
          <p:nvPr/>
        </p:nvSpPr>
        <p:spPr>
          <a:xfrm>
            <a:off x="9985248" y="4133088"/>
            <a:ext cx="19019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📱</a:t>
            </a:r>
            <a:endParaRPr lang="en-US" sz="2000" dirty="0"/>
          </a:p>
        </p:txBody>
      </p:sp>
      <p:sp>
        <p:nvSpPr>
          <p:cNvPr id="77" name="Text 75"/>
          <p:cNvSpPr/>
          <p:nvPr/>
        </p:nvSpPr>
        <p:spPr>
          <a:xfrm>
            <a:off x="9985248" y="4498848"/>
            <a:ext cx="1901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950" dirty="0"/>
          </a:p>
        </p:txBody>
      </p:sp>
      <p:sp>
        <p:nvSpPr>
          <p:cNvPr id="78" name="Text 76"/>
          <p:cNvSpPr/>
          <p:nvPr/>
        </p:nvSpPr>
        <p:spPr>
          <a:xfrm>
            <a:off x="9985248" y="4764024"/>
            <a:ext cx="1901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+ iOS included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0" y="6510528"/>
            <a:ext cx="12192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SmartSocietyHub  |  Making Society Management Simple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2011680" cy="27432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MODULE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&amp; Finance — Completely Automated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11274552" cy="0"/>
          </a:xfrm>
          <a:prstGeom prst="line">
            <a:avLst/>
          </a:prstGeom>
          <a:noFill/>
          <a:ln w="19050">
            <a:solidFill>
              <a:srgbClr val="ECEF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984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generating bills to collecting payments — everything happens automatically.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719072"/>
            <a:ext cx="2103120" cy="14173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50800" dist="25400" dir="2700000">
              <a:srgbClr val="AAAAAA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" y="1764792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20040" y="214884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Bills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" y="2496312"/>
            <a:ext cx="2103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bills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auto-created for all flats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404872" y="21031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ACC1"/>
                </a:solidFill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651760" y="1719072"/>
            <a:ext cx="2103120" cy="14173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50800" dist="25400" dir="2700000">
              <a:srgbClr val="AAAAAA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651760" y="1764792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651760" y="214884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 Gets Alert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651760" y="2496312"/>
            <a:ext cx="2103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+ app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instantly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736592" y="21031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ACC1"/>
                </a:solidFill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983480" y="1719072"/>
            <a:ext cx="2103120" cy="141732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  <a:effectLst>
            <a:outerShdw sx="100000" sy="100000" kx="0" ky="0" algn="bl" rotWithShape="0" blurRad="50800" dist="25400" dir="2700000">
              <a:srgbClr val="AAAAAA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983480" y="1764792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983480" y="214884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 Pays UPI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83480" y="2496312"/>
            <a:ext cx="2103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UPI payment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UTR confirmation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068312" y="21031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ACC1"/>
                </a:solidFill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315200" y="1719072"/>
            <a:ext cx="2103120" cy="14173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50800" dist="25400" dir="2700000">
              <a:srgbClr val="AAAAAA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315200" y="1764792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315200" y="214884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 Generated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315200" y="2496312"/>
            <a:ext cx="2103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receipt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permanently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9400032" y="21031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ACC1"/>
                </a:solidFill>
              </a:rPr>
              <a:t>→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9646920" y="1719072"/>
            <a:ext cx="2103120" cy="14173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50800" dist="25400" dir="2700000">
              <a:srgbClr val="AAAAAA">
                <a:alpha val="3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9646920" y="1764792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9646920" y="214884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 Updated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646920" y="2496312"/>
            <a:ext cx="2103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 auto-updated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double entry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20040" y="3401568"/>
            <a:ext cx="3611880" cy="685800"/>
          </a:xfrm>
          <a:prstGeom prst="rect">
            <a:avLst/>
          </a:prstGeom>
          <a:solidFill>
            <a:srgbClr val="E3F8FB"/>
          </a:solidFill>
          <a:ln w="12700">
            <a:solidFill>
              <a:srgbClr val="00ACC1"/>
            </a:solidFill>
            <a:prstDash val="solid"/>
          </a:ln>
          <a:effectLst>
            <a:outerShdw sx="100000" sy="100000" kx="0" ky="0" algn="bl" rotWithShape="0" blurRad="76200" dist="25400" dir="2700000">
              <a:srgbClr val="CCCCCC">
                <a:alpha val="3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11480" y="3447288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Auto Late Fees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11480" y="3712464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automatically after due date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114800" y="3401568"/>
            <a:ext cx="3611880" cy="685800"/>
          </a:xfrm>
          <a:prstGeom prst="rect">
            <a:avLst/>
          </a:prstGeom>
          <a:solidFill>
            <a:srgbClr val="E3F8FB"/>
          </a:solidFill>
          <a:ln w="12700">
            <a:solidFill>
              <a:srgbClr val="00ACC1"/>
            </a:solidFill>
            <a:prstDash val="solid"/>
          </a:ln>
          <a:effectLst>
            <a:outerShdw sx="100000" sy="100000" kx="0" ky="0" algn="bl" rotWithShape="0" blurRad="76200" dist="25400" dir="2700000">
              <a:srgbClr val="CCCCCC">
                <a:alpha val="3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206240" y="3447288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GST Calculation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206240" y="3712464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 GST auto-applied on bills &gt;₹7500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7909560" y="3401568"/>
            <a:ext cx="3611880" cy="685800"/>
          </a:xfrm>
          <a:prstGeom prst="rect">
            <a:avLst/>
          </a:prstGeom>
          <a:solidFill>
            <a:srgbClr val="E3F8FB"/>
          </a:solidFill>
          <a:ln w="12700">
            <a:solidFill>
              <a:srgbClr val="00ACC1"/>
            </a:solidFill>
            <a:prstDash val="solid"/>
          </a:ln>
          <a:effectLst>
            <a:outerShdw sx="100000" sy="100000" kx="0" ky="0" algn="bl" rotWithShape="0" blurRad="76200" dist="25400" dir="2700000">
              <a:srgbClr val="CCCCCC">
                <a:alpha val="3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8001000" y="3447288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🖨️  Digital Receipts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001000" y="3712464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Printable receipt for every payment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20040" y="4178808"/>
            <a:ext cx="3611880" cy="685800"/>
          </a:xfrm>
          <a:prstGeom prst="rect">
            <a:avLst/>
          </a:prstGeom>
          <a:solidFill>
            <a:srgbClr val="E3F8FB"/>
          </a:solidFill>
          <a:ln w="12700">
            <a:solidFill>
              <a:srgbClr val="00ACC1"/>
            </a:solidFill>
            <a:prstDash val="solid"/>
          </a:ln>
          <a:effectLst>
            <a:outerShdw sx="100000" sy="100000" kx="0" ky="0" algn="bl" rotWithShape="0" blurRad="76200" dist="25400" dir="2700000">
              <a:srgbClr val="CCCCCC">
                <a:alpha val="3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411480" y="4224528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Financial Reports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11480" y="4489704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balance, ledger, monthly P&amp;L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114800" y="4178808"/>
            <a:ext cx="3611880" cy="685800"/>
          </a:xfrm>
          <a:prstGeom prst="rect">
            <a:avLst/>
          </a:prstGeom>
          <a:solidFill>
            <a:srgbClr val="E3F8FB"/>
          </a:solidFill>
          <a:ln w="12700">
            <a:solidFill>
              <a:srgbClr val="00ACC1"/>
            </a:solidFill>
            <a:prstDash val="solid"/>
          </a:ln>
          <a:effectLst>
            <a:outerShdw sx="100000" sy="100000" kx="0" ky="0" algn="bl" rotWithShape="0" blurRad="76200" dist="25400" dir="2700000">
              <a:srgbClr val="CCCCCC">
                <a:alpha val="30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4206240" y="4224528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  Multiple Payment Modes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206240" y="4489704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UPI, cash, NEFT, cheque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7909560" y="4178808"/>
            <a:ext cx="3611880" cy="685800"/>
          </a:xfrm>
          <a:prstGeom prst="rect">
            <a:avLst/>
          </a:prstGeom>
          <a:solidFill>
            <a:srgbClr val="E3F8FB"/>
          </a:solidFill>
          <a:ln w="12700">
            <a:solidFill>
              <a:srgbClr val="00ACC1"/>
            </a:solidFill>
            <a:prstDash val="solid"/>
          </a:ln>
          <a:effectLst>
            <a:outerShdw sx="100000" sy="100000" kx="0" ky="0" algn="bl" rotWithShape="0" blurRad="76200" dist="25400" dir="2700000">
              <a:srgbClr val="CCCCCC">
                <a:alpha val="30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8001000" y="4224528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📤  Export to CSV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8001000" y="4489704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full reports for CA/auditor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0" y="6510528"/>
            <a:ext cx="12192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SmartSocietyHub  |  Making Society Management Simple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MODULE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Visitor Management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digital visitor log — no paper register, no faking, no security lapses.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691640"/>
            <a:ext cx="2148840" cy="1508760"/>
          </a:xfrm>
          <a:prstGeom prst="rect">
            <a:avLst/>
          </a:prstGeom>
          <a:solidFill>
            <a:srgbClr val="0D2F52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737360"/>
            <a:ext cx="2148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📞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65760" y="219456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 Pre-approves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65760" y="2542032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Approves visitor in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before they arrive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468880" y="2148840"/>
            <a:ext cx="2926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ACC1"/>
                </a:solidFill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724912" y="1691640"/>
            <a:ext cx="2148840" cy="1508760"/>
          </a:xfrm>
          <a:prstGeom prst="rect">
            <a:avLst/>
          </a:prstGeom>
          <a:solidFill>
            <a:srgbClr val="0D2F52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24912" y="1737360"/>
            <a:ext cx="2148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🔢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724912" y="219456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 / QR Code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724912" y="2542032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 verifies via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code or passcode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828032" y="2148840"/>
            <a:ext cx="2926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ACC1"/>
                </a:solidFill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084064" y="1691640"/>
            <a:ext cx="2148840" cy="1508760"/>
          </a:xfrm>
          <a:prstGeom prst="rect">
            <a:avLst/>
          </a:prstGeom>
          <a:solidFill>
            <a:srgbClr val="0D2F52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84064" y="1737360"/>
            <a:ext cx="2148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📸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5084064" y="219456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Captured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084064" y="2542032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 logs entry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photo (optional)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187184" y="2148840"/>
            <a:ext cx="2926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ACC1"/>
                </a:solidFill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443216" y="1691640"/>
            <a:ext cx="2148840" cy="1508760"/>
          </a:xfrm>
          <a:prstGeom prst="rect">
            <a:avLst/>
          </a:prstGeom>
          <a:solidFill>
            <a:srgbClr val="0D2F52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43216" y="1737360"/>
            <a:ext cx="2148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🚪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7443216" y="219456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Opens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443216" y="2542032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 enters with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9546336" y="2148840"/>
            <a:ext cx="2926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ACC1"/>
                </a:solidFill>
              </a:rPr>
              <a:t>→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9802368" y="1691640"/>
            <a:ext cx="2148840" cy="1508760"/>
          </a:xfrm>
          <a:prstGeom prst="rect">
            <a:avLst/>
          </a:prstGeom>
          <a:solidFill>
            <a:srgbClr val="0D2F52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802368" y="1737360"/>
            <a:ext cx="2148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⏰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9802368" y="219456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Logged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9802368" y="2542032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 &amp; exit time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saved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65760" y="3429000"/>
            <a:ext cx="3749040" cy="749808"/>
          </a:xfrm>
          <a:prstGeom prst="rect">
            <a:avLst/>
          </a:prstGeom>
          <a:solidFill>
            <a:srgbClr val="0D2F52"/>
          </a:solidFill>
          <a:ln w="12700">
            <a:solidFill>
              <a:srgbClr val="1C4F7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" y="347472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Blacklist Management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75488" y="3776472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known troublemakers from entering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343400" y="3429000"/>
            <a:ext cx="3749040" cy="749808"/>
          </a:xfrm>
          <a:prstGeom prst="rect">
            <a:avLst/>
          </a:prstGeom>
          <a:solidFill>
            <a:srgbClr val="0D2F52"/>
          </a:solidFill>
          <a:ln w="12700">
            <a:solidFill>
              <a:srgbClr val="1C4F7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453128" y="347472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🔦  Guard Patrol Logs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453128" y="3776472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Guards mark checkpoints on their rounds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8321040" y="3429000"/>
            <a:ext cx="3749040" cy="749808"/>
          </a:xfrm>
          <a:prstGeom prst="rect">
            <a:avLst/>
          </a:prstGeom>
          <a:solidFill>
            <a:srgbClr val="0D2F52"/>
          </a:solidFill>
          <a:ln w="12700">
            <a:solidFill>
              <a:srgbClr val="1C4F7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430768" y="347472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🆘  Emergency SOS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430768" y="3776472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One-tap alert to all committee members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65760" y="4297680"/>
            <a:ext cx="3749040" cy="749808"/>
          </a:xfrm>
          <a:prstGeom prst="rect">
            <a:avLst/>
          </a:prstGeom>
          <a:solidFill>
            <a:srgbClr val="0D2F52"/>
          </a:solidFill>
          <a:ln w="12700">
            <a:solidFill>
              <a:srgbClr val="1C4F7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5488" y="434340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Gate Incident Reports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75488" y="4645152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incident is logged with details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343400" y="4297680"/>
            <a:ext cx="3749040" cy="749808"/>
          </a:xfrm>
          <a:prstGeom prst="rect">
            <a:avLst/>
          </a:prstGeom>
          <a:solidFill>
            <a:srgbClr val="0D2F52"/>
          </a:solidFill>
          <a:ln w="12700">
            <a:solidFill>
              <a:srgbClr val="1C4F7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453128" y="434340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👮  Guard Login System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453128" y="4645152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guard app — no resident data access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8321040" y="4297680"/>
            <a:ext cx="3749040" cy="749808"/>
          </a:xfrm>
          <a:prstGeom prst="rect">
            <a:avLst/>
          </a:prstGeom>
          <a:solidFill>
            <a:srgbClr val="0D2F52"/>
          </a:solidFill>
          <a:ln w="12700">
            <a:solidFill>
              <a:srgbClr val="1C4F7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430768" y="434340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Package Delivery Log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8430768" y="4645152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Parcel in/out tracking for every flat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0" y="6537960"/>
            <a:ext cx="1219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SmartSocietyHub  |  Security You Can Trust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2011680" cy="27432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 SERVICES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 Residents. Peaceful Society.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11274552" cy="0"/>
          </a:xfrm>
          <a:prstGeom prst="line">
            <a:avLst/>
          </a:prstGeom>
          <a:noFill/>
          <a:ln w="19050">
            <a:solidFill>
              <a:srgbClr val="ECEF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984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residents the experience they expect — fast responses, transparency, and convenience.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600200"/>
            <a:ext cx="5303520" cy="4846320"/>
          </a:xfrm>
          <a:prstGeom prst="rect">
            <a:avLst/>
          </a:prstGeom>
          <a:solidFill>
            <a:srgbClr val="F4F7FA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76200" dist="25400" dir="2700000">
              <a:srgbClr val="CCCCCC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69164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Complaint Management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2121408"/>
            <a:ext cx="274320" cy="27432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1214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68680" y="2121408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 submits with photo/video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2761488"/>
            <a:ext cx="274320" cy="27432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76148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68680" y="2761488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Auto-assigned to right staff/vendor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3401568"/>
            <a:ext cx="274320" cy="27432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40156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68680" y="3401568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timer starts — e.g. 24 hrs for plumbing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" y="4041648"/>
            <a:ext cx="274320" cy="27432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404164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68680" y="4041648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Committee tracks progress live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" y="4681728"/>
            <a:ext cx="274320" cy="27432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46817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68680" y="4681728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 rates satisfaction (1–5 stars)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2920" y="5321808"/>
            <a:ext cx="274320" cy="27432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53218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68680" y="5321808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if SLA breached to Chairman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943600" y="1600200"/>
            <a:ext cx="6035040" cy="4846320"/>
          </a:xfrm>
          <a:prstGeom prst="rect">
            <a:avLst/>
          </a:prstGeom>
          <a:solidFill>
            <a:srgbClr val="F4F7FA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76200" dist="25400" dir="2700000">
              <a:srgbClr val="CCCCCC">
                <a:alpha val="3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080760" y="1691640"/>
            <a:ext cx="5760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🏘️  Community &amp; Convenience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080760" y="2121408"/>
            <a:ext cx="5669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Notices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080760" y="2377440"/>
            <a:ext cx="5669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Committee posts notices — residents get instant alerts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080760" y="2679192"/>
            <a:ext cx="5394960" cy="0"/>
          </a:xfrm>
          <a:prstGeom prst="line">
            <a:avLst/>
          </a:prstGeom>
          <a:noFill/>
          <a:ln w="9525">
            <a:solidFill>
              <a:srgbClr val="ECEFF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80760" y="2770632"/>
            <a:ext cx="5669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Forum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080760" y="3026664"/>
            <a:ext cx="5669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Residents discuss issues without WhatsApp groups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080760" y="3328416"/>
            <a:ext cx="5394960" cy="0"/>
          </a:xfrm>
          <a:prstGeom prst="line">
            <a:avLst/>
          </a:prstGeom>
          <a:noFill/>
          <a:ln w="9525">
            <a:solidFill>
              <a:srgbClr val="ECEFF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080760" y="3419856"/>
            <a:ext cx="5669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🗳️  Polls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080760" y="3675888"/>
            <a:ext cx="5669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 on society decisions — fully digital AGM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080760" y="3977640"/>
            <a:ext cx="5394960" cy="0"/>
          </a:xfrm>
          <a:prstGeom prst="line">
            <a:avLst/>
          </a:prstGeom>
          <a:noFill/>
          <a:ln w="9525">
            <a:solidFill>
              <a:srgbClr val="ECEFF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080760" y="4069080"/>
            <a:ext cx="5669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🏊  Facility Booking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080760" y="4325112"/>
            <a:ext cx="5669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gym, hall, pool online — no conflicts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080760" y="4626864"/>
            <a:ext cx="5394960" cy="0"/>
          </a:xfrm>
          <a:prstGeom prst="line">
            <a:avLst/>
          </a:prstGeom>
          <a:noFill/>
          <a:ln w="9525">
            <a:solidFill>
              <a:srgbClr val="ECEFF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080760" y="4718304"/>
            <a:ext cx="5669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Events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080760" y="4974336"/>
            <a:ext cx="5669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Society events with RSVP tracking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080760" y="5276088"/>
            <a:ext cx="5394960" cy="0"/>
          </a:xfrm>
          <a:prstGeom prst="line">
            <a:avLst/>
          </a:prstGeom>
          <a:noFill/>
          <a:ln w="9525">
            <a:solidFill>
              <a:srgbClr val="ECEFF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080760" y="5367528"/>
            <a:ext cx="5669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📂  Documents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080760" y="5623560"/>
            <a:ext cx="5669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Bylaws, NOC letters, minutes — always accessible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0" y="6510528"/>
            <a:ext cx="12192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SmartSocietyHub  |  Making Society Management Simple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on Android &amp; iOS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261872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Residents and guards can manage everything from their phone — anytime, anywhere.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961120" y="457200"/>
            <a:ext cx="2560320" cy="5029200"/>
          </a:xfrm>
          <a:prstGeom prst="roundRect">
            <a:avLst>
              <a:gd name="adj" fmla="val 10714"/>
            </a:avLst>
          </a:prstGeom>
          <a:solidFill>
            <a:srgbClr val="1C3F6E"/>
          </a:solidFill>
          <a:ln w="25400">
            <a:solidFill>
              <a:srgbClr val="00ACC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098280" y="868680"/>
            <a:ext cx="2286000" cy="4023360"/>
          </a:xfrm>
          <a:prstGeom prst="roundRect">
            <a:avLst>
              <a:gd name="adj" fmla="val 4000"/>
            </a:avLst>
          </a:prstGeom>
          <a:solidFill>
            <a:srgbClr val="0A2342"/>
          </a:solidFill>
          <a:ln w="12700">
            <a:solidFill>
              <a:srgbClr val="1A3F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098280" y="10058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SmartSocietyHub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9144000" y="1463040"/>
            <a:ext cx="2194560" cy="411480"/>
          </a:xfrm>
          <a:prstGeom prst="rect">
            <a:avLst/>
          </a:prstGeom>
          <a:solidFill>
            <a:srgbClr val="0D2F52"/>
          </a:solidFill>
          <a:ln w="6350">
            <a:solidFill>
              <a:srgbClr val="1C4F7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0" y="146304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Pay Dues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9144000" y="1984248"/>
            <a:ext cx="2194560" cy="411480"/>
          </a:xfrm>
          <a:prstGeom prst="rect">
            <a:avLst/>
          </a:prstGeom>
          <a:solidFill>
            <a:srgbClr val="0D2F52"/>
          </a:solidFill>
          <a:ln w="6350">
            <a:solidFill>
              <a:srgbClr val="1C4F7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0" y="1984248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View Notices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9144000" y="2505456"/>
            <a:ext cx="2194560" cy="411480"/>
          </a:xfrm>
          <a:prstGeom prst="rect">
            <a:avLst/>
          </a:prstGeom>
          <a:solidFill>
            <a:srgbClr val="0D2F52"/>
          </a:solidFill>
          <a:ln w="6350">
            <a:solidFill>
              <a:srgbClr val="1C4F7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0" y="2505456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🚪 Gate Log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9144000" y="3026664"/>
            <a:ext cx="2194560" cy="411480"/>
          </a:xfrm>
          <a:prstGeom prst="rect">
            <a:avLst/>
          </a:prstGeom>
          <a:solidFill>
            <a:srgbClr val="0D2F52"/>
          </a:solidFill>
          <a:ln w="6350">
            <a:solidFill>
              <a:srgbClr val="1C4F7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0" y="3026664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Complaints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9144000" y="3547872"/>
            <a:ext cx="2194560" cy="411480"/>
          </a:xfrm>
          <a:prstGeom prst="rect">
            <a:avLst/>
          </a:prstGeom>
          <a:solidFill>
            <a:srgbClr val="0D2F52"/>
          </a:solidFill>
          <a:ln w="6350">
            <a:solidFill>
              <a:srgbClr val="1C4F7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0" y="3547872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🏊 Book Amenity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9144000" y="4069080"/>
            <a:ext cx="2194560" cy="411480"/>
          </a:xfrm>
          <a:prstGeom prst="rect">
            <a:avLst/>
          </a:prstGeom>
          <a:solidFill>
            <a:srgbClr val="0D2F52"/>
          </a:solidFill>
          <a:ln w="6350">
            <a:solidFill>
              <a:srgbClr val="1C4F7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0" y="406908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Packages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1691640"/>
            <a:ext cx="8138160" cy="758952"/>
          </a:xfrm>
          <a:prstGeom prst="rect">
            <a:avLst/>
          </a:prstGeom>
          <a:solidFill>
            <a:srgbClr val="0D2F52"/>
          </a:solidFill>
          <a:ln w="12700">
            <a:solidFill>
              <a:srgbClr val="1C4F7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1746504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📴  Works Offline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94360" y="2029968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caches data — works in basements &amp; low-signal areas. Actions sync when online.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" y="2578608"/>
            <a:ext cx="8138160" cy="758952"/>
          </a:xfrm>
          <a:prstGeom prst="rect">
            <a:avLst/>
          </a:prstGeom>
          <a:solidFill>
            <a:srgbClr val="0D2F52"/>
          </a:solidFill>
          <a:ln w="12700">
            <a:solidFill>
              <a:srgbClr val="1C4F7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263347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Instant Push Notifications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94360" y="2916936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 due, visitor at gate, complaint update — everything pings residents immediately.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7200" y="3465576"/>
            <a:ext cx="8138160" cy="758952"/>
          </a:xfrm>
          <a:prstGeom prst="rect">
            <a:avLst/>
          </a:prstGeom>
          <a:solidFill>
            <a:srgbClr val="0D2F52"/>
          </a:solidFill>
          <a:ln w="12700">
            <a:solidFill>
              <a:srgbClr val="1C4F7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" y="35204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WhatsApp Integration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94360" y="3803904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reminders &amp; notices go to WhatsApp — no app download needed for basic alerts.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57200" y="4352544"/>
            <a:ext cx="8138160" cy="758952"/>
          </a:xfrm>
          <a:prstGeom prst="rect">
            <a:avLst/>
          </a:prstGeom>
          <a:solidFill>
            <a:srgbClr val="0D2F52"/>
          </a:solidFill>
          <a:ln w="12700">
            <a:solidFill>
              <a:srgbClr val="1C4F7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" y="440740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Separate Guard App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94360" y="4690872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Guards have their own secure login — they see only visitor &amp; gate data.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57200" y="5239512"/>
            <a:ext cx="8138160" cy="758952"/>
          </a:xfrm>
          <a:prstGeom prst="rect">
            <a:avLst/>
          </a:prstGeom>
          <a:solidFill>
            <a:srgbClr val="0D2F52"/>
          </a:solidFill>
          <a:ln w="12700">
            <a:solidFill>
              <a:srgbClr val="1C4F7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4360" y="5294376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Multi-language Support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94360" y="55778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supports Hindi, Gujarati, Marathi and more for residents across India.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0" y="6537960"/>
            <a:ext cx="1219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SmartSocietyHub  |  Your Society in Your Pocket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2011680" cy="27432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SmartSocietyHub  vs  After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11274552" cy="0"/>
          </a:xfrm>
          <a:prstGeom prst="line">
            <a:avLst/>
          </a:prstGeom>
          <a:noFill/>
          <a:ln w="19050">
            <a:solidFill>
              <a:srgbClr val="ECEFF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71600"/>
            <a:ext cx="5394960" cy="41148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37160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BEFORE  —  The Old Way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1371600"/>
            <a:ext cx="5394960" cy="4114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0" y="137160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AFTER  —  With SmartSocietyHub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1892808"/>
            <a:ext cx="5394960" cy="493776"/>
          </a:xfrm>
          <a:prstGeom prst="rect">
            <a:avLst/>
          </a:prstGeom>
          <a:solidFill>
            <a:srgbClr val="FFEBEE"/>
          </a:solidFill>
          <a:ln w="12700">
            <a:solidFill>
              <a:srgbClr val="FFCDD2"/>
            </a:solidFill>
            <a:prstDash val="solid"/>
          </a:ln>
          <a:effectLst>
            <a:outerShdw sx="100000" sy="100000" kx="0" ky="0" algn="bl" rotWithShape="0" blurRad="76200" dist="25400" dir="2700000">
              <a:srgbClr val="CCCCCC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1965960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Bills sent via paper slips or WhatsApp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17920" y="1892808"/>
            <a:ext cx="5394960" cy="493776"/>
          </a:xfrm>
          <a:prstGeom prst="rect">
            <a:avLst/>
          </a:prstGeom>
          <a:solidFill>
            <a:srgbClr val="E8F5E9"/>
          </a:solidFill>
          <a:ln w="12700">
            <a:solidFill>
              <a:srgbClr val="C8E6C9"/>
            </a:solidFill>
            <a:prstDash val="solid"/>
          </a:ln>
          <a:effectLst>
            <a:outerShdw sx="100000" sy="100000" kx="0" ky="0" algn="bl" rotWithShape="0" blurRad="76200" dist="25400" dir="2700000">
              <a:srgbClr val="CCCCCC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55080" y="1965960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Auto-generated, delivered by app + WhatsApp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577840" y="1965960"/>
            <a:ext cx="594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ACC1"/>
                </a:solidFill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65760" y="2468880"/>
            <a:ext cx="5394960" cy="493776"/>
          </a:xfrm>
          <a:prstGeom prst="rect">
            <a:avLst/>
          </a:prstGeom>
          <a:solidFill>
            <a:srgbClr val="FFF5F5"/>
          </a:solidFill>
          <a:ln w="12700">
            <a:solidFill>
              <a:srgbClr val="FFCDD2"/>
            </a:solidFill>
            <a:prstDash val="solid"/>
          </a:ln>
          <a:effectLst>
            <a:outerShdw sx="100000" sy="100000" kx="0" ky="0" algn="bl" rotWithShape="0" blurRad="76200" dist="25400" dir="2700000">
              <a:srgbClr val="CCCCCC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02920" y="2542032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Residents pay in cash to watchman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217920" y="2468880"/>
            <a:ext cx="5394960" cy="493776"/>
          </a:xfrm>
          <a:prstGeom prst="rect">
            <a:avLst/>
          </a:prstGeom>
          <a:solidFill>
            <a:srgbClr val="F0FFF0"/>
          </a:solidFill>
          <a:ln w="12700">
            <a:solidFill>
              <a:srgbClr val="C8E6C9"/>
            </a:solidFill>
            <a:prstDash val="solid"/>
          </a:ln>
          <a:effectLst>
            <a:outerShdw sx="100000" sy="100000" kx="0" ky="0" algn="bl" rotWithShape="0" blurRad="76200" dist="25400" dir="2700000">
              <a:srgbClr val="CCCCCC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355080" y="2542032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UPI payment in 10 seconds from phone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577840" y="2542032"/>
            <a:ext cx="594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ACC1"/>
                </a:solidFill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65760" y="3044952"/>
            <a:ext cx="5394960" cy="493776"/>
          </a:xfrm>
          <a:prstGeom prst="rect">
            <a:avLst/>
          </a:prstGeom>
          <a:solidFill>
            <a:srgbClr val="FFEBEE"/>
          </a:solidFill>
          <a:ln w="12700">
            <a:solidFill>
              <a:srgbClr val="FFCDD2"/>
            </a:solidFill>
            <a:prstDash val="solid"/>
          </a:ln>
          <a:effectLst>
            <a:outerShdw sx="100000" sy="100000" kx="0" ky="0" algn="bl" rotWithShape="0" blurRad="76200" dist="25400" dir="2700000">
              <a:srgbClr val="CCCCCC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02920" y="3118104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Defaulters tracked in Excel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217920" y="3044952"/>
            <a:ext cx="5394960" cy="493776"/>
          </a:xfrm>
          <a:prstGeom prst="rect">
            <a:avLst/>
          </a:prstGeom>
          <a:solidFill>
            <a:srgbClr val="E8F5E9"/>
          </a:solidFill>
          <a:ln w="12700">
            <a:solidFill>
              <a:srgbClr val="C8E6C9"/>
            </a:solidFill>
            <a:prstDash val="solid"/>
          </a:ln>
          <a:effectLst>
            <a:outerShdw sx="100000" sy="100000" kx="0" ky="0" algn="bl" rotWithShape="0" blurRad="76200" dist="25400" dir="2700000">
              <a:srgbClr val="CCCCCC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355080" y="3118104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Dashboard shows pending list instantly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577840" y="3118104"/>
            <a:ext cx="594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ACC1"/>
                </a:solidFill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65760" y="3621024"/>
            <a:ext cx="5394960" cy="493776"/>
          </a:xfrm>
          <a:prstGeom prst="rect">
            <a:avLst/>
          </a:prstGeom>
          <a:solidFill>
            <a:srgbClr val="FFF5F5"/>
          </a:solidFill>
          <a:ln w="12700">
            <a:solidFill>
              <a:srgbClr val="FFCDD2"/>
            </a:solidFill>
            <a:prstDash val="solid"/>
          </a:ln>
          <a:effectLst>
            <a:outerShdw sx="100000" sy="100000" kx="0" ky="0" algn="bl" rotWithShape="0" blurRad="76200" dist="25400" dir="2700000">
              <a:srgbClr val="CCCCCC">
                <a:alpha val="3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02920" y="3694176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Paper visitor register — easily faked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217920" y="3621024"/>
            <a:ext cx="5394960" cy="493776"/>
          </a:xfrm>
          <a:prstGeom prst="rect">
            <a:avLst/>
          </a:prstGeom>
          <a:solidFill>
            <a:srgbClr val="F0FFF0"/>
          </a:solidFill>
          <a:ln w="12700">
            <a:solidFill>
              <a:srgbClr val="C8E6C9"/>
            </a:solidFill>
            <a:prstDash val="solid"/>
          </a:ln>
          <a:effectLst>
            <a:outerShdw sx="100000" sy="100000" kx="0" ky="0" algn="bl" rotWithShape="0" blurRad="76200" dist="25400" dir="2700000">
              <a:srgbClr val="CCCCCC">
                <a:alpha val="3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355080" y="3694176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QR-coded digital entry, photo proof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577840" y="3694176"/>
            <a:ext cx="594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ACC1"/>
                </a:solidFill>
              </a:rPr>
              <a:t>→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65760" y="4197096"/>
            <a:ext cx="5394960" cy="493776"/>
          </a:xfrm>
          <a:prstGeom prst="rect">
            <a:avLst/>
          </a:prstGeom>
          <a:solidFill>
            <a:srgbClr val="FFEBEE"/>
          </a:solidFill>
          <a:ln w="12700">
            <a:solidFill>
              <a:srgbClr val="FFCDD2"/>
            </a:solidFill>
            <a:prstDash val="solid"/>
          </a:ln>
          <a:effectLst>
            <a:outerShdw sx="100000" sy="100000" kx="0" ky="0" algn="bl" rotWithShape="0" blurRad="76200" dist="25400" dir="2700000">
              <a:srgbClr val="CCCCCC">
                <a:alpha val="3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02920" y="4270248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Complaints verbally told to secretary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217920" y="4197096"/>
            <a:ext cx="5394960" cy="493776"/>
          </a:xfrm>
          <a:prstGeom prst="rect">
            <a:avLst/>
          </a:prstGeom>
          <a:solidFill>
            <a:srgbClr val="E8F5E9"/>
          </a:solidFill>
          <a:ln w="12700">
            <a:solidFill>
              <a:srgbClr val="C8E6C9"/>
            </a:solidFill>
            <a:prstDash val="solid"/>
          </a:ln>
          <a:effectLst>
            <a:outerShdw sx="100000" sy="100000" kx="0" ky="0" algn="bl" rotWithShape="0" blurRad="76200" dist="25400" dir="2700000">
              <a:srgbClr val="CCCCCC">
                <a:alpha val="3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355080" y="4270248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App complaint with photo, SLA, and rating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577840" y="4270248"/>
            <a:ext cx="594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ACC1"/>
                </a:solidFill>
              </a:rPr>
              <a:t>→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365760" y="4773168"/>
            <a:ext cx="5394960" cy="493776"/>
          </a:xfrm>
          <a:prstGeom prst="rect">
            <a:avLst/>
          </a:prstGeom>
          <a:solidFill>
            <a:srgbClr val="FFF5F5"/>
          </a:solidFill>
          <a:ln w="12700">
            <a:solidFill>
              <a:srgbClr val="FFCDD2"/>
            </a:solidFill>
            <a:prstDash val="solid"/>
          </a:ln>
          <a:effectLst>
            <a:outerShdw sx="100000" sy="100000" kx="0" ky="0" algn="bl" rotWithShape="0" blurRad="76200" dist="25400" dir="2700000">
              <a:srgbClr val="CCCCCC">
                <a:alpha val="3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502920" y="4846320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Parking disputes with no proof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217920" y="4773168"/>
            <a:ext cx="5394960" cy="493776"/>
          </a:xfrm>
          <a:prstGeom prst="rect">
            <a:avLst/>
          </a:prstGeom>
          <a:solidFill>
            <a:srgbClr val="F0FFF0"/>
          </a:solidFill>
          <a:ln w="12700">
            <a:solidFill>
              <a:srgbClr val="C8E6C9"/>
            </a:solidFill>
            <a:prstDash val="solid"/>
          </a:ln>
          <a:effectLst>
            <a:outerShdw sx="100000" sy="100000" kx="0" ky="0" algn="bl" rotWithShape="0" blurRad="76200" dist="25400" dir="2700000">
              <a:srgbClr val="CCCCCC">
                <a:alpha val="3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6355080" y="4846320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Full slot assignment history with timestamps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577840" y="4846320"/>
            <a:ext cx="594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ACC1"/>
                </a:solidFill>
              </a:rPr>
              <a:t>→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365760" y="5349240"/>
            <a:ext cx="5394960" cy="493776"/>
          </a:xfrm>
          <a:prstGeom prst="rect">
            <a:avLst/>
          </a:prstGeom>
          <a:solidFill>
            <a:srgbClr val="FFEBEE"/>
          </a:solidFill>
          <a:ln w="12700">
            <a:solidFill>
              <a:srgbClr val="FFCDD2"/>
            </a:solidFill>
            <a:prstDash val="solid"/>
          </a:ln>
          <a:effectLst>
            <a:outerShdw sx="100000" sy="100000" kx="0" ky="0" algn="bl" rotWithShape="0" blurRad="76200" dist="25400" dir="2700000">
              <a:srgbClr val="CCCCCC">
                <a:alpha val="3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502920" y="5422392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AGM notices printed &amp; posted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217920" y="5349240"/>
            <a:ext cx="5394960" cy="493776"/>
          </a:xfrm>
          <a:prstGeom prst="rect">
            <a:avLst/>
          </a:prstGeom>
          <a:solidFill>
            <a:srgbClr val="E8F5E9"/>
          </a:solidFill>
          <a:ln w="12700">
            <a:solidFill>
              <a:srgbClr val="C8E6C9"/>
            </a:solidFill>
            <a:prstDash val="solid"/>
          </a:ln>
          <a:effectLst>
            <a:outerShdw sx="100000" sy="100000" kx="0" ky="0" algn="bl" rotWithShape="0" blurRad="76200" dist="25400" dir="2700000">
              <a:srgbClr val="CCCCCC">
                <a:alpha val="30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6355080" y="5422392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Push notification to all residents in 1 click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5577840" y="5422392"/>
            <a:ext cx="594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ACC1"/>
                </a:solidFill>
              </a:rPr>
              <a:t>→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365760" y="5925312"/>
            <a:ext cx="5394960" cy="493776"/>
          </a:xfrm>
          <a:prstGeom prst="rect">
            <a:avLst/>
          </a:prstGeom>
          <a:solidFill>
            <a:srgbClr val="FFF5F5"/>
          </a:solidFill>
          <a:ln w="12700">
            <a:solidFill>
              <a:srgbClr val="FFCDD2"/>
            </a:solidFill>
            <a:prstDash val="solid"/>
          </a:ln>
          <a:effectLst>
            <a:outerShdw sx="100000" sy="100000" kx="0" ky="0" algn="bl" rotWithShape="0" blurRad="76200" dist="25400" dir="2700000">
              <a:srgbClr val="CCCCCC">
                <a:alpha val="30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502920" y="5998464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 financial report for CA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6217920" y="5925312"/>
            <a:ext cx="5394960" cy="493776"/>
          </a:xfrm>
          <a:prstGeom prst="rect">
            <a:avLst/>
          </a:prstGeom>
          <a:solidFill>
            <a:srgbClr val="F0FFF0"/>
          </a:solidFill>
          <a:ln w="12700">
            <a:solidFill>
              <a:srgbClr val="C8E6C9"/>
            </a:solidFill>
            <a:prstDash val="solid"/>
          </a:ln>
          <a:effectLst>
            <a:outerShdw sx="100000" sy="100000" kx="0" ky="0" algn="bl" rotWithShape="0" blurRad="76200" dist="25400" dir="2700000">
              <a:srgbClr val="CCCCCC">
                <a:alpha val="30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6355080" y="5998464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Trial balance &amp; ledger exported in 1 click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5577840" y="5998464"/>
            <a:ext cx="594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ACC1"/>
                </a:solidFill>
              </a:rPr>
              <a:t>→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0" y="6510528"/>
            <a:ext cx="12192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SmartSocietyHub  |  Making Society Management Simple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&amp; Running in 3 Simple Steps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IT team needed. No training required. We set it up for you.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828800"/>
            <a:ext cx="3749040" cy="4297680"/>
          </a:xfrm>
          <a:prstGeom prst="rect">
            <a:avLst/>
          </a:prstGeom>
          <a:solidFill>
            <a:srgbClr val="0D2F52"/>
          </a:solidFill>
          <a:ln w="19050">
            <a:solidFill>
              <a:srgbClr val="00ACC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87452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02920" y="2496312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📋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02920" y="303580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Onboard Your Society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77240" y="3520440"/>
            <a:ext cx="3200400" cy="0"/>
          </a:xfrm>
          <a:prstGeom prst="line">
            <a:avLst/>
          </a:prstGeom>
          <a:noFill/>
          <a:ln w="12700">
            <a:solidFill>
              <a:srgbClr val="1C4F7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639312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Share society name &amp; flat list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4160520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We set up the database in 1 day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4681728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Your logo &amp; UPI ID configured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5202936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Admin account created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480560" y="1828800"/>
            <a:ext cx="3749040" cy="4297680"/>
          </a:xfrm>
          <a:prstGeom prst="rect">
            <a:avLst/>
          </a:prstGeom>
          <a:solidFill>
            <a:srgbClr val="0D2F52"/>
          </a:solidFill>
          <a:ln w="19050">
            <a:solidFill>
              <a:srgbClr val="00ACC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80560" y="187452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4480560" y="2496312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👥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480560" y="303580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Residents Join via App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54880" y="3520440"/>
            <a:ext cx="3200400" cy="0"/>
          </a:xfrm>
          <a:prstGeom prst="line">
            <a:avLst/>
          </a:prstGeom>
          <a:noFill/>
          <a:ln w="12700">
            <a:solidFill>
              <a:srgbClr val="1C4F7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9160" y="3639312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Residents download the app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709160" y="4160520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Join via unique society code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709160" y="4681728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Profile linked to their flat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709160" y="5202936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WhatsApp alerts auto-activated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458200" y="1828800"/>
            <a:ext cx="3749040" cy="4297680"/>
          </a:xfrm>
          <a:prstGeom prst="rect">
            <a:avLst/>
          </a:prstGeom>
          <a:solidFill>
            <a:srgbClr val="0D2F52"/>
          </a:solidFill>
          <a:ln w="19050">
            <a:solidFill>
              <a:srgbClr val="00ACC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58200" y="187452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8458200" y="2496312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🚀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8458200" y="303580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Managing Digitally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732520" y="3520440"/>
            <a:ext cx="3200400" cy="0"/>
          </a:xfrm>
          <a:prstGeom prst="line">
            <a:avLst/>
          </a:prstGeom>
          <a:noFill/>
          <a:ln w="12700">
            <a:solidFill>
              <a:srgbClr val="1C4F7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86800" y="3639312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Generate first month's bills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686800" y="4160520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Collect payments via UPI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686800" y="4681728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Guards start digital gate log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686800" y="5202936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Residents raise complaints in app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0" y="6537960"/>
            <a:ext cx="1219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SmartSocietyHub  |  From Zero to Digital in 24 Hours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2011680" cy="27432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&amp; SECURITY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Data is Safe. Always.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11274552" cy="0"/>
          </a:xfrm>
          <a:prstGeom prst="line">
            <a:avLst/>
          </a:prstGeom>
          <a:noFill/>
          <a:ln w="19050">
            <a:solidFill>
              <a:srgbClr val="ECEF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984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Enterprise-grade security built for residential societies — not just an afterthought.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664208"/>
            <a:ext cx="2816352" cy="1965960"/>
          </a:xfrm>
          <a:prstGeom prst="rect">
            <a:avLst/>
          </a:prstGeom>
          <a:solidFill>
            <a:srgbClr val="E3F8FB"/>
          </a:solidFill>
          <a:ln w="12700">
            <a:solidFill>
              <a:srgbClr val="00ACC1"/>
            </a:solidFill>
            <a:prstDash val="solid"/>
          </a:ln>
          <a:effectLst>
            <a:outerShdw sx="100000" sy="100000" kx="0" ky="0" algn="bl" rotWithShape="0" blurRad="76200" dist="25400" dir="2700000">
              <a:srgbClr val="CCCCCC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" y="1755648"/>
            <a:ext cx="28163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🔒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20040" y="2258568"/>
            <a:ext cx="28163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Sessions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" y="2624328"/>
            <a:ext cx="2267712" cy="0"/>
          </a:xfrm>
          <a:prstGeom prst="line">
            <a:avLst/>
          </a:prstGeom>
          <a:noFill/>
          <a:ln w="12700">
            <a:solidFill>
              <a:srgbClr val="00AC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715768"/>
            <a:ext cx="26334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logins protected with JWT encryption. Sessions expire automatically.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319272" y="1664208"/>
            <a:ext cx="2816352" cy="1965960"/>
          </a:xfrm>
          <a:prstGeom prst="rect">
            <a:avLst/>
          </a:prstGeom>
          <a:solidFill>
            <a:srgbClr val="E3F8FB"/>
          </a:solidFill>
          <a:ln w="12700">
            <a:solidFill>
              <a:srgbClr val="00ACC1"/>
            </a:solidFill>
            <a:prstDash val="solid"/>
          </a:ln>
          <a:effectLst>
            <a:outerShdw sx="100000" sy="100000" kx="0" ky="0" algn="bl" rotWithShape="0" blurRad="76200" dist="25400" dir="2700000">
              <a:srgbClr val="CCCCCC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319272" y="1755648"/>
            <a:ext cx="28163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👮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319272" y="2258568"/>
            <a:ext cx="28163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593592" y="2624328"/>
            <a:ext cx="2267712" cy="0"/>
          </a:xfrm>
          <a:prstGeom prst="line">
            <a:avLst/>
          </a:prstGeom>
          <a:noFill/>
          <a:ln w="12700">
            <a:solidFill>
              <a:srgbClr val="00ACC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10712" y="2715768"/>
            <a:ext cx="26334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Chairman, Secretary, Treasurer, Member, Tenant, Guard — each sees only their data.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318504" y="1664208"/>
            <a:ext cx="2816352" cy="1965960"/>
          </a:xfrm>
          <a:prstGeom prst="rect">
            <a:avLst/>
          </a:prstGeom>
          <a:solidFill>
            <a:srgbClr val="E3F8FB"/>
          </a:solidFill>
          <a:ln w="12700">
            <a:solidFill>
              <a:srgbClr val="00ACC1"/>
            </a:solidFill>
            <a:prstDash val="solid"/>
          </a:ln>
          <a:effectLst>
            <a:outerShdw sx="100000" sy="100000" kx="0" ky="0" algn="bl" rotWithShape="0" blurRad="76200" dist="25400" dir="2700000">
              <a:srgbClr val="CCCCCC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318504" y="1755648"/>
            <a:ext cx="28163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🏢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318504" y="2258568"/>
            <a:ext cx="28163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Multi-Society Isolation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592824" y="2624328"/>
            <a:ext cx="2267712" cy="0"/>
          </a:xfrm>
          <a:prstGeom prst="line">
            <a:avLst/>
          </a:prstGeom>
          <a:noFill/>
          <a:ln w="12700">
            <a:solidFill>
              <a:srgbClr val="00ACC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9944" y="2715768"/>
            <a:ext cx="26334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society data is 100% isolated. No cross-leaking between societies.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9317736" y="1664208"/>
            <a:ext cx="2816352" cy="1965960"/>
          </a:xfrm>
          <a:prstGeom prst="rect">
            <a:avLst/>
          </a:prstGeom>
          <a:solidFill>
            <a:srgbClr val="E3F8FB"/>
          </a:solidFill>
          <a:ln w="12700">
            <a:solidFill>
              <a:srgbClr val="00ACC1"/>
            </a:solidFill>
            <a:prstDash val="solid"/>
          </a:ln>
          <a:effectLst>
            <a:outerShdw sx="100000" sy="100000" kx="0" ky="0" algn="bl" rotWithShape="0" blurRad="76200" dist="25400" dir="2700000">
              <a:srgbClr val="CCCCCC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317736" y="1755648"/>
            <a:ext cx="28163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📜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9317736" y="2258568"/>
            <a:ext cx="28163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592056" y="2624328"/>
            <a:ext cx="2267712" cy="0"/>
          </a:xfrm>
          <a:prstGeom prst="line">
            <a:avLst/>
          </a:prstGeom>
          <a:noFill/>
          <a:ln w="12700">
            <a:solidFill>
              <a:srgbClr val="00ACC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409176" y="2715768"/>
            <a:ext cx="26334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is logged — who did what, when, from which device.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20040" y="3813048"/>
            <a:ext cx="2816352" cy="1965960"/>
          </a:xfrm>
          <a:prstGeom prst="rect">
            <a:avLst/>
          </a:prstGeom>
          <a:solidFill>
            <a:srgbClr val="E3F8FB"/>
          </a:solidFill>
          <a:ln w="12700">
            <a:solidFill>
              <a:srgbClr val="00ACC1"/>
            </a:solidFill>
            <a:prstDash val="solid"/>
          </a:ln>
          <a:effectLst>
            <a:outerShdw sx="100000" sy="100000" kx="0" ky="0" algn="bl" rotWithShape="0" blurRad="76200" dist="25400" dir="2700000">
              <a:srgbClr val="CCCCCC">
                <a:alpha val="3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20040" y="3904488"/>
            <a:ext cx="28163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⚡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320040" y="4407408"/>
            <a:ext cx="28163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94360" y="4773168"/>
            <a:ext cx="2267712" cy="0"/>
          </a:xfrm>
          <a:prstGeom prst="line">
            <a:avLst/>
          </a:prstGeom>
          <a:noFill/>
          <a:ln w="12700">
            <a:solidFill>
              <a:srgbClr val="00ACC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" y="4864608"/>
            <a:ext cx="26334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Brute force protection on all login endpoints.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319272" y="3813048"/>
            <a:ext cx="2816352" cy="1965960"/>
          </a:xfrm>
          <a:prstGeom prst="rect">
            <a:avLst/>
          </a:prstGeom>
          <a:solidFill>
            <a:srgbClr val="E3F8FB"/>
          </a:solidFill>
          <a:ln w="12700">
            <a:solidFill>
              <a:srgbClr val="00ACC1"/>
            </a:solidFill>
            <a:prstDash val="solid"/>
          </a:ln>
          <a:effectLst>
            <a:outerShdw sx="100000" sy="100000" kx="0" ky="0" algn="bl" rotWithShape="0" blurRad="76200" dist="25400" dir="2700000">
              <a:srgbClr val="CCCCCC">
                <a:alpha val="3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3319272" y="3904488"/>
            <a:ext cx="28163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🗄️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3319272" y="4407408"/>
            <a:ext cx="28163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Database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593592" y="4773168"/>
            <a:ext cx="2267712" cy="0"/>
          </a:xfrm>
          <a:prstGeom prst="line">
            <a:avLst/>
          </a:prstGeom>
          <a:noFill/>
          <a:ln w="12700">
            <a:solidFill>
              <a:srgbClr val="00ACC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10712" y="4864608"/>
            <a:ext cx="26334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Enterprise-grade database with automated backups &amp; failover.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318504" y="3813048"/>
            <a:ext cx="2816352" cy="1965960"/>
          </a:xfrm>
          <a:prstGeom prst="rect">
            <a:avLst/>
          </a:prstGeom>
          <a:solidFill>
            <a:srgbClr val="E3F8FB"/>
          </a:solidFill>
          <a:ln w="12700">
            <a:solidFill>
              <a:srgbClr val="00ACC1"/>
            </a:solidFill>
            <a:prstDash val="solid"/>
          </a:ln>
          <a:effectLst>
            <a:outerShdw sx="100000" sy="100000" kx="0" ky="0" algn="bl" rotWithShape="0" blurRad="76200" dist="25400" dir="2700000">
              <a:srgbClr val="CCCCCC">
                <a:alpha val="3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6318504" y="3904488"/>
            <a:ext cx="28163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🌐</a:t>
            </a:r>
            <a:endParaRPr lang="en-US" sz="2600" dirty="0"/>
          </a:p>
        </p:txBody>
      </p:sp>
      <p:sp>
        <p:nvSpPr>
          <p:cNvPr id="39" name="Text 37"/>
          <p:cNvSpPr/>
          <p:nvPr/>
        </p:nvSpPr>
        <p:spPr>
          <a:xfrm>
            <a:off x="6318504" y="4407408"/>
            <a:ext cx="28163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Headers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592824" y="4773168"/>
            <a:ext cx="2267712" cy="0"/>
          </a:xfrm>
          <a:prstGeom prst="line">
            <a:avLst/>
          </a:prstGeom>
          <a:noFill/>
          <a:ln w="12700">
            <a:solidFill>
              <a:srgbClr val="00ACC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09944" y="4864608"/>
            <a:ext cx="26334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Industry-standard HTTP security headers on all pages.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9317736" y="3813048"/>
            <a:ext cx="2816352" cy="1965960"/>
          </a:xfrm>
          <a:prstGeom prst="rect">
            <a:avLst/>
          </a:prstGeom>
          <a:solidFill>
            <a:srgbClr val="E3F8FB"/>
          </a:solidFill>
          <a:ln w="12700">
            <a:solidFill>
              <a:srgbClr val="00ACC1"/>
            </a:solidFill>
            <a:prstDash val="solid"/>
          </a:ln>
          <a:effectLst>
            <a:outerShdw sx="100000" sy="100000" kx="0" ky="0" algn="bl" rotWithShape="0" blurRad="76200" dist="25400" dir="2700000">
              <a:srgbClr val="CCCCCC">
                <a:alpha val="30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9317736" y="3904488"/>
            <a:ext cx="28163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📱</a:t>
            </a:r>
            <a:endParaRPr lang="en-US" sz="2600" dirty="0"/>
          </a:p>
        </p:txBody>
      </p:sp>
      <p:sp>
        <p:nvSpPr>
          <p:cNvPr id="44" name="Text 42"/>
          <p:cNvSpPr/>
          <p:nvPr/>
        </p:nvSpPr>
        <p:spPr>
          <a:xfrm>
            <a:off x="9317736" y="4407408"/>
            <a:ext cx="28163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Multi-Device Sessions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9592056" y="4773168"/>
            <a:ext cx="2267712" cy="0"/>
          </a:xfrm>
          <a:prstGeom prst="line">
            <a:avLst/>
          </a:prstGeom>
          <a:noFill/>
          <a:ln w="12700">
            <a:solidFill>
              <a:srgbClr val="00ACC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409176" y="4864608"/>
            <a:ext cx="26334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and revoke active sessions from any device at any time.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0" y="6510528"/>
            <a:ext cx="12192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SmartSocietyHub  |  Making Society Management Simple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 &amp; PRICING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Pricing. No Surprises.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20700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 plan that fits your society. Upgrade anytime.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801368"/>
            <a:ext cx="3566160" cy="4480560"/>
          </a:xfrm>
          <a:prstGeom prst="rect">
            <a:avLst/>
          </a:prstGeom>
          <a:solidFill>
            <a:srgbClr val="0D2F52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911096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" y="230428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50 Flats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11480" y="2578608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₹999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11480" y="317296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/month  +GST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3493008"/>
            <a:ext cx="3017520" cy="0"/>
          </a:xfrm>
          <a:prstGeom prst="line">
            <a:avLst/>
          </a:prstGeom>
          <a:noFill/>
          <a:ln w="12700">
            <a:solidFill>
              <a:srgbClr val="1C4F7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611880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Maintenance Billing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40080" y="3950208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UPI Payment Collection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40080" y="4288536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Visitor Gate Log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40080" y="4626864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Notices &amp; Forum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40080" y="4965192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Complaints Module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40080" y="5303520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Basic Financial Reports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40080" y="5641848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Android App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40080" y="5980176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Email Support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270248" y="1618488"/>
            <a:ext cx="3703320" cy="4855464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43400" y="1691640"/>
            <a:ext cx="3566160" cy="4709160"/>
          </a:xfrm>
          <a:prstGeom prst="rect">
            <a:avLst/>
          </a:prstGeom>
          <a:solidFill>
            <a:srgbClr val="0D2F52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43400" y="180136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343400" y="219456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200 Flats  ★ Most Popular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343400" y="246888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₹2,499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4343400" y="306324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/month  +GST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617720" y="3383280"/>
            <a:ext cx="3017520" cy="0"/>
          </a:xfrm>
          <a:prstGeom prst="line">
            <a:avLst/>
          </a:prstGeom>
          <a:noFill/>
          <a:ln w="12700">
            <a:solidFill>
              <a:srgbClr val="1C4F7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0" y="3502152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Everything in Starter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572000" y="3840480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Parking Management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572000" y="4178808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Amenity Booking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572000" y="4517136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Staff &amp; Payroll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572000" y="4855464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Polls &amp; Meetings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572000" y="5193792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WhatsApp Alerts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572000" y="5532120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Tenant Management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572000" y="5870448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Priority Support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8275320" y="1801368"/>
            <a:ext cx="3566160" cy="4480560"/>
          </a:xfrm>
          <a:prstGeom prst="rect">
            <a:avLst/>
          </a:prstGeom>
          <a:solidFill>
            <a:srgbClr val="0D2F52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75320" y="1911096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275320" y="230428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Flats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8275320" y="2578608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₹5,999</a:t>
            </a:r>
            <a:endParaRPr lang="en-US" sz="3000" dirty="0"/>
          </a:p>
        </p:txBody>
      </p:sp>
      <p:sp>
        <p:nvSpPr>
          <p:cNvPr id="39" name="Text 37"/>
          <p:cNvSpPr/>
          <p:nvPr/>
        </p:nvSpPr>
        <p:spPr>
          <a:xfrm>
            <a:off x="8275320" y="317296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/month  +GST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8549640" y="3493008"/>
            <a:ext cx="3017520" cy="0"/>
          </a:xfrm>
          <a:prstGeom prst="line">
            <a:avLst/>
          </a:prstGeom>
          <a:noFill/>
          <a:ln w="12700">
            <a:solidFill>
              <a:srgbClr val="1C4F7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503920" y="3611880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Everything in Professional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8503920" y="3950208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Full Accounting Ledger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8503920" y="4288536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Trial Balance &amp; Reports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8503920" y="4626864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Multi-Society Dashboard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8503920" y="4965192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Custom Branding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8503920" y="5303520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API Access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8503920" y="5641848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Dedicated Account Manager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8503920" y="5980176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SLA Support Guarantee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0" y="6537960"/>
            <a:ext cx="1219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Annual subscription available at 20% discount  ·  Free 30-day trial on all plans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2011680" cy="27432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Society Chairmen Choose SmartSocietyHub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11274552" cy="0"/>
          </a:xfrm>
          <a:prstGeom prst="line">
            <a:avLst/>
          </a:prstGeom>
          <a:noFill/>
          <a:ln w="19050">
            <a:solidFill>
              <a:srgbClr val="ECEFF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417320"/>
            <a:ext cx="2743200" cy="10515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76200" dist="25400" dir="2700000">
              <a:srgbClr val="CCCCCC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15087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18+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20040" y="20116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1417320"/>
            <a:ext cx="2743200" cy="105156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  <a:effectLst>
            <a:outerShdw sx="100000" sy="100000" kx="0" ky="0" algn="bl" rotWithShape="0" blurRad="76200" dist="25400" dir="2700000">
              <a:srgbClr val="CCCCCC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91840" y="15087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291840" y="20116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63640" y="1417320"/>
            <a:ext cx="2743200" cy="10515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76200" dist="25400" dir="2700000">
              <a:srgbClr val="CCCCCC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63640" y="15087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263640" y="20116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Trail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235440" y="1417320"/>
            <a:ext cx="2743200" cy="105156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  <a:effectLst>
            <a:outerShdw sx="100000" sy="100000" kx="0" ky="0" algn="bl" rotWithShape="0" blurRad="76200" dist="25400" dir="2700000">
              <a:srgbClr val="CCCCCC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235440" y="15087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hrs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9235440" y="20116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2697480"/>
            <a:ext cx="3749040" cy="1783080"/>
          </a:xfrm>
          <a:prstGeom prst="rect">
            <a:avLst/>
          </a:prstGeom>
          <a:solidFill>
            <a:srgbClr val="F4F7FA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76200" dist="25400" dir="2700000">
              <a:srgbClr val="CCCCCC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57200" y="280720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🇮🇳  Built for India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3200400"/>
            <a:ext cx="347472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 payments, GST compliance, WhatsApp alerts, Hindi/regional language support — designed ground-up for Indian residential societies.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297680" y="2697480"/>
            <a:ext cx="3749040" cy="1783080"/>
          </a:xfrm>
          <a:prstGeom prst="rect">
            <a:avLst/>
          </a:prstGeom>
          <a:solidFill>
            <a:srgbClr val="F4F7FA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76200" dist="25400" dir="2700000">
              <a:srgbClr val="CCCCCC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434840" y="280720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Web + Mobile, One Cost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434840" y="3200400"/>
            <a:ext cx="347472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get a full web app AND an Android+iOS mobile app — no extra charges. One subscription, three platforms.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275320" y="2697480"/>
            <a:ext cx="3749040" cy="1783080"/>
          </a:xfrm>
          <a:prstGeom prst="rect">
            <a:avLst/>
          </a:prstGeom>
          <a:solidFill>
            <a:srgbClr val="F4F7FA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76200" dist="25400" dir="2700000">
              <a:srgbClr val="CCCCCC">
                <a:alpha val="3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412480" y="280720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Works Offline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412480" y="3200400"/>
            <a:ext cx="347472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guards in the basement and residents in lifts — the app still works. Data syncs the moment connectivity is back.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377440" y="4645152"/>
            <a:ext cx="3749040" cy="1783080"/>
          </a:xfrm>
          <a:prstGeom prst="rect">
            <a:avLst/>
          </a:prstGeom>
          <a:solidFill>
            <a:srgbClr val="F4F7FA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76200" dist="25400" dir="2700000">
              <a:srgbClr val="CCCCCC">
                <a:alpha val="3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2514600" y="475488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🏛️  Compliance Ready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514600" y="5148072"/>
            <a:ext cx="347472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 on maintenance, TDS on vendor payments, double-entry accounting, journal vouchers — ready for your CA and municipal audits.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355080" y="4645152"/>
            <a:ext cx="3749040" cy="1783080"/>
          </a:xfrm>
          <a:prstGeom prst="rect">
            <a:avLst/>
          </a:prstGeom>
          <a:solidFill>
            <a:srgbClr val="F4F7FA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76200" dist="25400" dir="2700000">
              <a:srgbClr val="CCCCCC">
                <a:alpha val="3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492240" y="475488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No IT Team Needed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492240" y="5148072"/>
            <a:ext cx="347472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handle setup, hosting, backups, and updates. You just manage your society — we handle the technology.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0" y="6510528"/>
            <a:ext cx="12192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SmartSocietyHub  |  Making Society Management Simple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834640"/>
            <a:ext cx="12192000" cy="6400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548640"/>
            <a:ext cx="1143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Get Your Society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11430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Digitally Transformed Today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457200" y="2212848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your FREE 30-day trial. No credit card. No commitment.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920240" y="3108960"/>
            <a:ext cx="3474720" cy="68580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20240" y="310896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📞  Book a Free Demo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760720" y="3108960"/>
            <a:ext cx="3474720" cy="6858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720" y="310896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Start Free Trial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" y="4114800"/>
            <a:ext cx="3657600" cy="1005840"/>
          </a:xfrm>
          <a:prstGeom prst="rect">
            <a:avLst/>
          </a:prstGeom>
          <a:solidFill>
            <a:srgbClr val="0D2F52"/>
          </a:solidFill>
          <a:ln w="12700">
            <a:solidFill>
              <a:srgbClr val="1C4F7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42062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WhatsApp / Call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4526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+91 98765 43210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434840" y="4114800"/>
            <a:ext cx="3657600" cy="1005840"/>
          </a:xfrm>
          <a:prstGeom prst="rect">
            <a:avLst/>
          </a:prstGeom>
          <a:solidFill>
            <a:srgbClr val="0D2F52"/>
          </a:solidFill>
          <a:ln w="12700">
            <a:solidFill>
              <a:srgbClr val="1C4F7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34840" y="42062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 Email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434840" y="4526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hello@smartsocietyhub.in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366760" y="4114800"/>
            <a:ext cx="3657600" cy="1005840"/>
          </a:xfrm>
          <a:prstGeom prst="rect">
            <a:avLst/>
          </a:prstGeom>
          <a:solidFill>
            <a:srgbClr val="0D2F52"/>
          </a:solidFill>
          <a:ln w="12700">
            <a:solidFill>
              <a:srgbClr val="1C4F7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66760" y="42062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Website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366760" y="4526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www.smartsocietyhub.in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0" y="5376672"/>
            <a:ext cx="12192000" cy="54864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5559552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"From paper registers to a smart digital society — in just 24 hours."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0" y="6144768"/>
            <a:ext cx="1219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SmartSocietyHub  ·  Making Society Management Simple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2026-05-28T12:30:03Z</dcterms:created>
  <dcterms:modified xsi:type="dcterms:W3CDTF">2026-05-28T12:30:03Z</dcterms:modified>
</cp:coreProperties>
</file>